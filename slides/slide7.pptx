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0f7a8e5004e4028" /><Relationship Type="http://schemas.openxmlformats.org/officeDocument/2006/relationships/extended-properties" Target="/docProps/app.xml" Id="R4909f679541c40c3" /><Relationship Type="http://schemas.openxmlformats.org/officeDocument/2006/relationships/officeDocument" Target="/ppt/presentation.xml" Id="R25b3c8cc0ac541d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9c936e320594492"/>
  </p:sldMasterIdLst>
  <p:notesMasterIdLst>
    <p:notesMasterId xmlns:r="http://schemas.openxmlformats.org/officeDocument/2006/relationships" r:id="R179c1abf4aa24524"/>
  </p:notesMasterIdLst>
  <p:sldIdLst>
    <p:sldId xmlns:r="http://schemas.openxmlformats.org/officeDocument/2006/relationships" id="256" r:id="R3079cb2df93a4c8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89619ed7e2346de" /><Relationship Type="http://schemas.openxmlformats.org/officeDocument/2006/relationships/slideMaster" Target="/ppt/slideMasters/slideMaster1.xml" Id="R09c936e320594492" /><Relationship Type="http://schemas.openxmlformats.org/officeDocument/2006/relationships/notesMaster" Target="/ppt/notesMasters/notesMaster1.xml" Id="R179c1abf4aa24524" /><Relationship Type="http://schemas.openxmlformats.org/officeDocument/2006/relationships/presProps" Target="/ppt/presProps.xml" Id="R2a713d61ffca4a95" /><Relationship Type="http://schemas.openxmlformats.org/officeDocument/2006/relationships/tableStyles" Target="/ppt/tableStyles.xml" Id="R4845f0e698474df6" /><Relationship Type="http://schemas.openxmlformats.org/officeDocument/2006/relationships/slide" Target="/ppt/slides/slide1.xml" Id="R3079cb2df93a4c8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66acdcdde0f47e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bd90d013c584cdb" /><Relationship Type="http://schemas.openxmlformats.org/officeDocument/2006/relationships/notesMaster" Target="/ppt/notesMasters/notesMaster1.xml" Id="R60341a633854491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内容底稿：https://tcnalm3egehv.feishu.cn/wiki/FhrQwiP1HivTxqkvB0zc1jGrnsh?fromScene=spaceOverview ，机器人只读回读 revision 643。逐篇来源：[1] Zhuangbin Chen, Zhihan Jiang, Yuxin Su, Michael R. Lyu, Zibin Zheng, TraceMesh: Scalable and Streaming Sampling for Distributed Traces, CLOUD'24, IEEE Best Paper Award；[2] Yulun Wu, Guangba Yu, Zhihan Jiang, Yichen Li, Michael R. Lyu, AutoScope: Code Knowledge Enhanced Span-level Sampling for Distributed Tracing, TOSEM'26；[3] Zhihan Jiang, Jinyang Liu, Yichen Li, Haiyu Huang, Xiao He, Tieying Zhang, Jianjun Chen, Yi Li, Rui Shi, Michael R. Lyu, LogPilot: Intent-aware and Scalable Alert Diagnosis for Large-scale Online Service Systems, ASE'25 Industry Track；[4] Junsong Pu, Yichen Li, Zhuangbin Chen, Jinyang Liu, Zhihan Jiang, Jianjun Chen, Rui Shi, Zibin Zheng, Tieying Zhang, ErrorPrism: Reconstructing Error Propagation Paths in Cloud Service Systems, ASE'25 Industry Track；[5] Junjie Huang, Yuedong Zhong, Guangba Yu, Zhihan Jiang, Minzhi Yan, Wenfei Luan, Tianyu Yang, Rui Ren, Michael R. Lyu, iKnow: an Intent-Guided Chatbot for Cloud Operations with Retrieval-Augmented Generation, ASE'25, ACM SIGSOFT Distinguished Paper Award。以上五篇依据作者主页：https://zhihan-jiang.com/ 。[6] Haiyu Huang, Jiewei Lyu, Zhihan Jiang, Jinyang Liu, Xiao He, Tieying Zhang, Wu Xiang, Michael R. Lyu, From General Agents to RCA Experts: A Self-Evolving Harness for Root Cause Analysis, arXiv:2608.25661v1, https://arxiv.org/abs/2608.25661 。六篇论文在链路中的位置是本次研究交流中的分析映射，不是作者主页的官方分类。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df9974e6dea49e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e84088339684397" /><Relationship Type="http://schemas.openxmlformats.org/officeDocument/2006/relationships/slideLayout" Target="/ppt/slideLayouts/slideLayout1.xml" Id="R25b307134d28425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5b307134d28425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4a3b5ecac84f55" /><Relationship Type="http://schemas.openxmlformats.org/officeDocument/2006/relationships/notesSlide" Target="/ppt/notesSlides/notesSlide1.xml" Id="R64408609704b45d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BB4F7C3-F65D-4C9C-90E5-F1ABEE765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1125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365D"/>
                </a:solidFill>
                <a:latin typeface="Songti SC"/>
                <a:ea typeface="Songti SC"/>
                <a:cs typeface="Songti SC"/>
              </a:defRPr>
            </a:pPr>
            <a:r>
              <a:rPr sz="2550" b="1">
                <a:solidFill>
                  <a:srgbClr val="17365D"/>
                </a:solidFill>
                <a:latin typeface="Songti SC"/>
                <a:ea typeface="Songti SC"/>
                <a:cs typeface="Songti SC"/>
              </a:rPr>
              <a:t>Agent 可靠性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891CDB-4B17-490E-8E16-7E9E41520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33450"/>
            <a:ext cx="111252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9E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D2B9F9-CF9F-45E5-80C6-9D2C07AC0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14450"/>
            <a:ext cx="114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365D"/>
                </a:solidFill>
                <a:latin typeface="Songti SC"/>
                <a:ea typeface="Songti SC"/>
                <a:cs typeface="Songti SC"/>
              </a:defRPr>
            </a:pPr>
            <a:r>
              <a:rPr sz="1425" b="1">
                <a:solidFill>
                  <a:srgbClr val="17365D"/>
                </a:solidFill>
                <a:latin typeface="Songti SC"/>
                <a:ea typeface="Songti SC"/>
                <a:cs typeface="Songti SC"/>
              </a:rPr>
              <a:t>可靠性链路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21FFCF-00C0-4776-9E32-38710732E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314450"/>
            <a:ext cx="1381125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17365D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365D"/>
                </a:solidFill>
                <a:latin typeface="Songti SC"/>
                <a:ea typeface="Songti SC"/>
                <a:cs typeface="Songti SC"/>
              </a:defRPr>
            </a:pPr>
            <a:r>
              <a:rPr sz="1350" b="1">
                <a:solidFill>
                  <a:srgbClr val="17365D"/>
                </a:solidFill>
                <a:latin typeface="Songti SC"/>
                <a:ea typeface="Songti SC"/>
                <a:cs typeface="Songti SC"/>
              </a:rPr>
              <a:t>系统运行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FB391A-7979-4FB9-A12C-9F6CDBBF8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1533525"/>
            <a:ext cx="200025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B7280"/>
          </a:solidFill>
          <a:ln xmlns:a="http://schemas.openxmlformats.org/drawingml/2006/main" w="3810">
            <a:solidFill>
              <a:srgbClr val="6B7280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2AE9C5-DA20-4943-A6EE-DA056DC9F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314450"/>
            <a:ext cx="1381125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2F5597"/>
          </a:solidFill>
          <a:ln xmlns:a="http://schemas.openxmlformats.org/drawingml/2006/main" w="12383">
            <a:solidFill>
              <a:srgbClr val="2F5597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Songti SC"/>
                <a:ea typeface="Songti SC"/>
                <a:cs typeface="Songti SC"/>
              </a:defRPr>
            </a:pPr>
            <a:r>
              <a:rPr sz="1350" b="1">
                <a:solidFill>
                  <a:srgbClr val="FFFFFF"/>
                </a:solidFill>
                <a:latin typeface="Songti SC"/>
                <a:ea typeface="Songti SC"/>
                <a:cs typeface="Songti SC"/>
              </a:rPr>
              <a:t>观测数据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DD2A77-0159-4A13-BA04-36DDA6D70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1533525"/>
            <a:ext cx="200025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B7280"/>
          </a:solidFill>
          <a:ln xmlns:a="http://schemas.openxmlformats.org/drawingml/2006/main" w="3810">
            <a:solidFill>
              <a:srgbClr val="6B7280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91E72C-2931-47B9-92C1-A5BBC8245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1314450"/>
            <a:ext cx="1381125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2D7C82"/>
          </a:solidFill>
          <a:ln xmlns:a="http://schemas.openxmlformats.org/drawingml/2006/main" w="12383">
            <a:solidFill>
              <a:srgbClr val="2D7C82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Songti SC"/>
                <a:ea typeface="Songti SC"/>
                <a:cs typeface="Songti SC"/>
              </a:defRPr>
            </a:pPr>
            <a:r>
              <a:rPr sz="1350" b="1">
                <a:solidFill>
                  <a:srgbClr val="FFFFFF"/>
                </a:solidFill>
                <a:latin typeface="Songti SC"/>
                <a:ea typeface="Songti SC"/>
                <a:cs typeface="Songti SC"/>
              </a:rPr>
              <a:t>证据筛选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7636FB-4B7F-4943-9DD5-1F9B4750E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1533525"/>
            <a:ext cx="200025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B7280"/>
          </a:solidFill>
          <a:ln xmlns:a="http://schemas.openxmlformats.org/drawingml/2006/main" w="3810">
            <a:solidFill>
              <a:srgbClr val="6B7280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B6421F-9555-4005-A85C-7AD17FA6E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314450"/>
            <a:ext cx="1381125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B26A00"/>
          </a:solidFill>
          <a:ln xmlns:a="http://schemas.openxmlformats.org/drawingml/2006/main" w="12383">
            <a:solidFill>
              <a:srgbClr val="B26A00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Songti SC"/>
                <a:ea typeface="Songti SC"/>
                <a:cs typeface="Songti SC"/>
              </a:defRPr>
            </a:pPr>
            <a:r>
              <a:rPr sz="1350" b="1">
                <a:solidFill>
                  <a:srgbClr val="FFFFFF"/>
                </a:solidFill>
                <a:latin typeface="Songti SC"/>
                <a:ea typeface="Songti SC"/>
                <a:cs typeface="Songti SC"/>
              </a:rPr>
              <a:t>问题诊断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B7FDDB-3D5C-4502-B5C1-9C818F59B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1533525"/>
            <a:ext cx="200025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B7280"/>
          </a:solidFill>
          <a:ln xmlns:a="http://schemas.openxmlformats.org/drawingml/2006/main" w="3810">
            <a:solidFill>
              <a:srgbClr val="6B7280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C0CB6D-0A2F-4669-8E06-5DBE5D9A8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314450"/>
            <a:ext cx="1381125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287D47"/>
          </a:solidFill>
          <a:ln xmlns:a="http://schemas.openxmlformats.org/drawingml/2006/main" w="12383">
            <a:solidFill>
              <a:srgbClr val="287D47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Songti SC"/>
                <a:ea typeface="Songti SC"/>
                <a:cs typeface="Songti SC"/>
              </a:defRPr>
            </a:pPr>
            <a:r>
              <a:rPr sz="1350" b="1">
                <a:solidFill>
                  <a:srgbClr val="FFFFFF"/>
                </a:solidFill>
                <a:latin typeface="Songti SC"/>
                <a:ea typeface="Songti SC"/>
                <a:cs typeface="Songti SC"/>
              </a:rPr>
              <a:t>经验沉淀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D1485F-3997-45C4-9C37-05503579C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1533525"/>
            <a:ext cx="200025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B7280"/>
          </a:solidFill>
          <a:ln xmlns:a="http://schemas.openxmlformats.org/drawingml/2006/main" w="3810">
            <a:solidFill>
              <a:srgbClr val="6B7280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E25B3F-8143-492F-9E60-60CC43661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314450"/>
            <a:ext cx="1381125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287D47"/>
          </a:solidFill>
          <a:ln xmlns:a="http://schemas.openxmlformats.org/drawingml/2006/main" w="12383">
            <a:solidFill>
              <a:srgbClr val="287D47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Songti SC"/>
                <a:ea typeface="Songti SC"/>
                <a:cs typeface="Songti SC"/>
              </a:defRPr>
            </a:pPr>
            <a:r>
              <a:rPr sz="1350" b="1">
                <a:solidFill>
                  <a:srgbClr val="FFFFFF"/>
                </a:solidFill>
                <a:latin typeface="Songti SC"/>
                <a:ea typeface="Songti SC"/>
                <a:cs typeface="Songti SC"/>
              </a:rPr>
              <a:t>改进验证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C281F2-D4F3-4D91-BD91-C9DC1EB8E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52650"/>
            <a:ext cx="1143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365D"/>
                </a:solidFill>
                <a:latin typeface="Songti SC"/>
                <a:ea typeface="Songti SC"/>
                <a:cs typeface="Songti SC"/>
              </a:defRPr>
            </a:pPr>
            <a:r>
              <a:rPr sz="1425" b="1">
                <a:solidFill>
                  <a:srgbClr val="17365D"/>
                </a:solidFill>
                <a:latin typeface="Songti SC"/>
                <a:ea typeface="Songti SC"/>
                <a:cs typeface="Songti SC"/>
              </a:rPr>
              <a:t>我的工作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670B72-3E47-4057-8F9E-46C365BFD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114550"/>
            <a:ext cx="4714875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EEF5FB"/>
          </a:solidFill>
          <a:ln xmlns:a="http://schemas.openxmlformats.org/drawingml/2006/main" w="12383">
            <a:solidFill>
              <a:srgbClr val="2F5597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068B46-C380-4366-A07C-CD1627AD2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2209800"/>
            <a:ext cx="2238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F5597"/>
                </a:solidFill>
                <a:latin typeface="Songti SC"/>
                <a:ea typeface="Songti SC"/>
                <a:cs typeface="Songti SC"/>
              </a:defRPr>
            </a:pPr>
            <a:r>
              <a:rPr sz="1500" b="1">
                <a:solidFill>
                  <a:srgbClr val="2F5597"/>
                </a:solidFill>
                <a:latin typeface="Songti SC"/>
                <a:ea typeface="Songti SC"/>
                <a:cs typeface="Songti SC"/>
              </a:rPr>
              <a:t>上游：观测基础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4DF8C8-52D8-49B1-8BC6-26C35C4A4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2533650"/>
            <a:ext cx="4238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30343B"/>
                </a:solidFill>
                <a:latin typeface="Songti SC"/>
                <a:ea typeface="Songti SC"/>
                <a:cs typeface="Songti SC"/>
              </a:defRPr>
            </a:pPr>
            <a:r>
              <a:rPr sz="1238" b="0">
                <a:solidFill>
                  <a:srgbClr val="30343B"/>
                </a:solidFill>
                <a:latin typeface="Songti SC"/>
                <a:ea typeface="Songti SC"/>
                <a:cs typeface="Songti SC"/>
              </a:rPr>
              <a:t>Trace、Log、Metrics。保证后续有数据可查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54767D-B9E0-481A-8756-B1D737B58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114550"/>
            <a:ext cx="4714875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EEF8F1"/>
          </a:solidFill>
          <a:ln xmlns:a="http://schemas.openxmlformats.org/drawingml/2006/main" w="12383">
            <a:solidFill>
              <a:srgbClr val="287D47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F3AF6A-EF85-48B5-9AAB-776C9E54D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2209800"/>
            <a:ext cx="2238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87D47"/>
                </a:solidFill>
                <a:latin typeface="Songti SC"/>
                <a:ea typeface="Songti SC"/>
                <a:cs typeface="Songti SC"/>
              </a:defRPr>
            </a:pPr>
            <a:r>
              <a:rPr sz="1500" b="1">
                <a:solidFill>
                  <a:srgbClr val="287D47"/>
                </a:solidFill>
                <a:latin typeface="Songti SC"/>
                <a:ea typeface="Songti SC"/>
                <a:cs typeface="Songti SC"/>
              </a:rPr>
              <a:t>下游：经验演进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643A47A-2ED9-4B2B-9410-9931DCF65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2533650"/>
            <a:ext cx="4238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30343B"/>
                </a:solidFill>
                <a:latin typeface="Songti SC"/>
                <a:ea typeface="Songti SC"/>
                <a:cs typeface="Songti SC"/>
              </a:defRPr>
            </a:pPr>
            <a:r>
              <a:rPr sz="1238" b="0">
                <a:solidFill>
                  <a:srgbClr val="30343B"/>
                </a:solidFill>
                <a:latin typeface="Songti SC"/>
                <a:ea typeface="Songti SC"/>
                <a:cs typeface="Songti SC"/>
              </a:rPr>
              <a:t>沉淀人机交互记录为经验，并推动演进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D74DAD-C4D7-4F1C-AE20-21F421DC9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14700"/>
            <a:ext cx="1143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365D"/>
                </a:solidFill>
                <a:latin typeface="Songti SC"/>
                <a:ea typeface="Songti SC"/>
                <a:cs typeface="Songti SC"/>
              </a:defRPr>
            </a:pPr>
            <a:r>
              <a:rPr sz="1425" b="1">
                <a:solidFill>
                  <a:srgbClr val="17365D"/>
                </a:solidFill>
                <a:latin typeface="Songti SC"/>
                <a:ea typeface="Songti SC"/>
                <a:cs typeface="Songti SC"/>
              </a:rPr>
              <a:t>组内工作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68B9025-E4F6-41FC-B84C-3738D5DED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276600"/>
            <a:ext cx="57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597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1DB8D06-B11E-403D-9E98-4C70BB75D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238500"/>
            <a:ext cx="323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5597"/>
                </a:solidFill>
                <a:latin typeface="Songti SC"/>
                <a:ea typeface="Songti SC"/>
                <a:cs typeface="Songti SC"/>
              </a:defRPr>
            </a:pPr>
            <a:r>
              <a:rPr sz="1350" b="1">
                <a:solidFill>
                  <a:srgbClr val="2F5597"/>
                </a:solidFill>
                <a:latin typeface="Songti SC"/>
                <a:ea typeface="Songti SC"/>
                <a:cs typeface="Songti SC"/>
              </a:rPr>
              <a:t>遥测：TraceMesh [1]、AutoScope [2]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B8C9CDE-DB5E-490F-924D-A560B057A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238500"/>
            <a:ext cx="628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0343B"/>
                </a:solidFill>
                <a:latin typeface="Songti SC"/>
                <a:ea typeface="Songti SC"/>
                <a:cs typeface="Songti SC"/>
              </a:defRPr>
            </a:pPr>
            <a:r>
              <a:rPr sz="1275" b="0">
                <a:solidFill>
                  <a:srgbClr val="30343B"/>
                </a:solidFill>
                <a:latin typeface="Songti SC"/>
                <a:ea typeface="Songti SC"/>
                <a:cs typeface="Songti SC"/>
              </a:rPr>
              <a:t>数据过载时筛选值得保留的 Trace / Span，并保持可恢复性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B8F7CCD-2A4D-4CC8-9B98-F2F8E01EA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810000"/>
            <a:ext cx="946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9E1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2912DCD-CAFE-412A-8BFF-85B3143AB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867150"/>
            <a:ext cx="57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6A00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9BF854F-774F-4CB3-A690-0E2066B89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829050"/>
            <a:ext cx="323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26A00"/>
                </a:solidFill>
                <a:latin typeface="Songti SC"/>
                <a:ea typeface="Songti SC"/>
                <a:cs typeface="Songti SC"/>
              </a:defRPr>
            </a:pPr>
            <a:r>
              <a:rPr sz="1350" b="1">
                <a:solidFill>
                  <a:srgbClr val="B26A00"/>
                </a:solidFill>
                <a:latin typeface="Songti SC"/>
                <a:ea typeface="Songti SC"/>
                <a:cs typeface="Songti SC"/>
              </a:rPr>
              <a:t>轨迹到诊断：LogPilot [3]、ErrorPrism [4]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29DF03A-171A-4E46-870C-E3DEAD57E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829050"/>
            <a:ext cx="628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0343B"/>
                </a:solidFill>
                <a:latin typeface="Songti SC"/>
                <a:ea typeface="Songti SC"/>
                <a:cs typeface="Songti SC"/>
              </a:defRPr>
            </a:pPr>
            <a:r>
              <a:rPr sz="1275" b="0">
                <a:solidFill>
                  <a:srgbClr val="30343B"/>
                </a:solidFill>
                <a:latin typeface="Songti SC"/>
                <a:ea typeface="Songti SC"/>
                <a:cs typeface="Songti SC"/>
              </a:rPr>
              <a:t>把已有日志组织成请求链或错误传播路径，支持问题定位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2B8B6CD-1FF8-48A0-AA6C-5DFD8091C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400550"/>
            <a:ext cx="946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9E1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E4C7548-B9B4-4229-9BD1-0BAD1FDEC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457700"/>
            <a:ext cx="571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D47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5196086-B3D2-44F8-BB62-265719210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41960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87D47"/>
                </a:solidFill>
                <a:latin typeface="Songti SC"/>
                <a:ea typeface="Songti SC"/>
                <a:cs typeface="Songti SC"/>
              </a:defRPr>
            </a:pPr>
            <a:r>
              <a:rPr sz="1350" b="1">
                <a:solidFill>
                  <a:srgbClr val="287D47"/>
                </a:solidFill>
                <a:latin typeface="Songti SC"/>
                <a:ea typeface="Songti SC"/>
                <a:cs typeface="Songti SC"/>
              </a:rPr>
              <a:t>经验到验证：iKnow [5]、OpsHarness [6]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98E885F-0E9B-4C02-A3DE-7F89AD47A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419600"/>
            <a:ext cx="628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30343B"/>
                </a:solidFill>
                <a:latin typeface="Songti SC"/>
                <a:ea typeface="Songti SC"/>
                <a:cs typeface="Songti SC"/>
              </a:defRPr>
            </a:pPr>
            <a:r>
              <a:rPr sz="1238" b="0">
                <a:solidFill>
                  <a:srgbClr val="30343B"/>
                </a:solidFill>
                <a:latin typeface="Songti SC"/>
                <a:ea typeface="Songti SC"/>
                <a:cs typeface="Songti SC"/>
              </a:rPr>
              <a:t>iKnow 供给任务所需代码与知识，在证据不足时约束行为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D8C29FA-4E9A-4C58-996E-7471CD410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705350"/>
            <a:ext cx="628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30343B"/>
                </a:solidFill>
                <a:latin typeface="Songti SC"/>
                <a:ea typeface="Songti SC"/>
                <a:cs typeface="Songti SC"/>
              </a:defRPr>
            </a:pPr>
            <a:r>
              <a:rPr sz="1238" b="0">
                <a:solidFill>
                  <a:srgbClr val="30343B"/>
                </a:solidFill>
                <a:latin typeface="Songti SC"/>
                <a:ea typeface="Songti SC"/>
                <a:cs typeface="Songti SC"/>
              </a:rPr>
              <a:t>OpsHarness 写回诊断经验，并验证更新的收益与回归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7FBD696-1356-4556-8FCB-48548359B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5067300"/>
            <a:ext cx="946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9E1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D812265-6E4B-4C7F-A3E5-942663C51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62550"/>
            <a:ext cx="5429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90" b="1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rPr>
              <a:t>[1] TraceMesh: Scalable and Streaming Sampling for Distributed Traces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868D758-EC59-4EA7-BFD5-9A5788457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14950"/>
            <a:ext cx="5429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78" b="0">
                <a:solidFill>
                  <a:srgbClr val="30343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578" b="0">
                <a:solidFill>
                  <a:srgbClr val="30343B"/>
                </a:solidFill>
                <a:latin typeface="Times New Roman"/>
                <a:ea typeface="Times New Roman"/>
                <a:cs typeface="Times New Roman"/>
              </a:rPr>
              <a:t>Zhuangbin Chen, Zhihan Jiang, Yuxin Su, Michael R. Lyu, Zibin Zheng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7C07E84-4605-48C9-8F00-29E0D107C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57825"/>
            <a:ext cx="5429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2F559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00" b="1">
                <a:solidFill>
                  <a:srgbClr val="2F5597"/>
                </a:solidFill>
                <a:latin typeface="Times New Roman"/>
                <a:ea typeface="Times New Roman"/>
                <a:cs typeface="Times New Roman"/>
              </a:rPr>
              <a:t>CLOUD'24 · The IEEE International Conference on Cloud Computing · IEEE Best Paper Award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F9E7050-65FF-4381-A85C-566B414E9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48325"/>
            <a:ext cx="5429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90" b="1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rPr>
              <a:t>[2] AutoScope: Code Knowledge Enhanced Span-level Sampling for Distributed Tracing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4C59A47-55FA-4CC3-A182-7494183BC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00725"/>
            <a:ext cx="5429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78" b="0">
                <a:solidFill>
                  <a:srgbClr val="30343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578" b="0">
                <a:solidFill>
                  <a:srgbClr val="30343B"/>
                </a:solidFill>
                <a:latin typeface="Times New Roman"/>
                <a:ea typeface="Times New Roman"/>
                <a:cs typeface="Times New Roman"/>
              </a:rPr>
              <a:t>Yulun Wu, Guangba Yu, Zhihan Jiang, Yichen Li, Michael R. Lyu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D3E0A5A-5EF0-42E5-A780-A38CBE3F8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43600"/>
            <a:ext cx="5429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2F559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00" b="1">
                <a:solidFill>
                  <a:srgbClr val="2F5597"/>
                </a:solidFill>
                <a:latin typeface="Times New Roman"/>
                <a:ea typeface="Times New Roman"/>
                <a:cs typeface="Times New Roman"/>
              </a:rPr>
              <a:t>TOSEM'26 · ACM Transactions on Software Engineering and Methodology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DF3B98C-BAA8-4A75-97C6-17106AAEB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34100"/>
            <a:ext cx="5429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90" b="1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rPr>
              <a:t>[3] LogPilot: Intent-aware and Scalable Alert Diagnosis for Large-scale Online Service Systems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D3EBE3A-2D8D-4CDE-869D-D6A4622A5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0"/>
            <a:ext cx="5429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78" b="0">
                <a:solidFill>
                  <a:srgbClr val="30343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578" b="0">
                <a:solidFill>
                  <a:srgbClr val="30343B"/>
                </a:solidFill>
                <a:latin typeface="Times New Roman"/>
                <a:ea typeface="Times New Roman"/>
                <a:cs typeface="Times New Roman"/>
              </a:rPr>
              <a:t>Zhihan Jiang, Jinyang Liu, Yichen Li, Haiyu Huang, Xiao He, Tieying Zhang, Jianjun Chen, Yi Li, Rui Shi, Michael R. Lyu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BC003FC-5C7A-4571-B6FD-FFCB83154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29375"/>
            <a:ext cx="5429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2F559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00" b="1">
                <a:solidFill>
                  <a:srgbClr val="2F5597"/>
                </a:solidFill>
                <a:latin typeface="Times New Roman"/>
                <a:ea typeface="Times New Roman"/>
                <a:cs typeface="Times New Roman"/>
              </a:rPr>
              <a:t>ASE'25 · The IEEE/ACM International Conference on Automated Software Engineering · Industry Track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58F1A83-EEF9-4399-AD93-29446D8E0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62550"/>
            <a:ext cx="5429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90" b="1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rPr>
              <a:t>[4] ErrorPrism: Reconstructing Error Propagation Paths in Cloud Service Systems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8649219-E38F-4435-936A-07B2983EE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314950"/>
            <a:ext cx="5429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78" b="0">
                <a:solidFill>
                  <a:srgbClr val="30343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578" b="0">
                <a:solidFill>
                  <a:srgbClr val="30343B"/>
                </a:solidFill>
                <a:latin typeface="Times New Roman"/>
                <a:ea typeface="Times New Roman"/>
                <a:cs typeface="Times New Roman"/>
              </a:rPr>
              <a:t>Junsong Pu, Yichen Li, Zhuangbin Chen, Jinyang Liu, Zhihan Jiang, Jianjun Chen, Rui Shi, Zibin Zheng, Tieying Zhang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0572643-0476-4F30-A0A2-D8FD1C270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457825"/>
            <a:ext cx="5429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2F559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00" b="1">
                <a:solidFill>
                  <a:srgbClr val="2F5597"/>
                </a:solidFill>
                <a:latin typeface="Times New Roman"/>
                <a:ea typeface="Times New Roman"/>
                <a:cs typeface="Times New Roman"/>
              </a:rPr>
              <a:t>ASE'25 · The IEEE/ACM International Conference on Automated Software Engineering · Industry Track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C9A4275-E133-48CD-BBA9-23E77E5CE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648325"/>
            <a:ext cx="5429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90" b="1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rPr>
              <a:t>[5] iKnow: an Intent-Guided Chatbot for Cloud Operations with Retrieval-Augmented Generation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C6ACB84-B875-4935-97DA-A6222B7A9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800725"/>
            <a:ext cx="5429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78" b="0">
                <a:solidFill>
                  <a:srgbClr val="30343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578" b="0">
                <a:solidFill>
                  <a:srgbClr val="30343B"/>
                </a:solidFill>
                <a:latin typeface="Times New Roman"/>
                <a:ea typeface="Times New Roman"/>
                <a:cs typeface="Times New Roman"/>
              </a:rPr>
              <a:t>Junjie Huang, Yuedong Zhong, Guangba Yu, Zhihan Jiang, Minzhi Yan, Wenfei Luan, Tianyu Yang, Rui Ren, Michael R. Lyu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D465FB1-1038-48B2-BFF4-757A011B2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943600"/>
            <a:ext cx="5429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2F559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00" b="1">
                <a:solidFill>
                  <a:srgbClr val="2F5597"/>
                </a:solidFill>
                <a:latin typeface="Times New Roman"/>
                <a:ea typeface="Times New Roman"/>
                <a:cs typeface="Times New Roman"/>
              </a:rPr>
              <a:t>ASE'25 · The IEEE/ACM International Conference on Automated Software Engineering · ACM SIGSOFT Distinguished Paper Award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464F9DA-62AD-4C6E-9B68-931EF28E1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134100"/>
            <a:ext cx="495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90" b="1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90" b="1">
                <a:solidFill>
                  <a:srgbClr val="17365D"/>
                </a:solidFill>
                <a:latin typeface="Times New Roman"/>
                <a:ea typeface="Times New Roman"/>
                <a:cs typeface="Times New Roman"/>
              </a:rPr>
              <a:t>[6] From General Agents to RCA Experts: A Self-Evolving Harness for Root Cause Analysis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E67586B-CEB6-424F-BB47-F6913C9AE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286500"/>
            <a:ext cx="4953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78" b="0">
                <a:solidFill>
                  <a:srgbClr val="30343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578" b="0">
                <a:solidFill>
                  <a:srgbClr val="30343B"/>
                </a:solidFill>
                <a:latin typeface="Times New Roman"/>
                <a:ea typeface="Times New Roman"/>
                <a:cs typeface="Times New Roman"/>
              </a:rPr>
              <a:t>Haiyu Huang, Jiewei Lyu, Zhihan Jiang, Jinyang Liu, Xiao He, Tieying Zhang, Wu Xiang, Michael R. Lyu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652FE0A-C46A-464A-AA9D-E562F7BD8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429375"/>
            <a:ext cx="495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2F559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00" b="1">
                <a:solidFill>
                  <a:srgbClr val="2F5597"/>
                </a:solidFill>
                <a:latin typeface="Times New Roman"/>
                <a:ea typeface="Times New Roman"/>
                <a:cs typeface="Times New Roman"/>
              </a:rPr>
              <a:t>arXiv:2608.25661v1 · 2026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92AF493-5623-4B80-92A6-6535EF0B0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2F559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2F5597"/>
                </a:solidFill>
                <a:latin typeface="Times New Roman"/>
                <a:ea typeface="Times New Roman"/>
                <a:cs typeface="Times New Roman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32716630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2026-09-13T04:49:31.5430000Z</dcterms:created>
  <dcterms:modified xsi:type="dcterms:W3CDTF">2026-09-13T04:49:31.5430000Z</dcterms:modified>
</coreProperties>
</file>