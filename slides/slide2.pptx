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左图：OpsHarness Fig. 1，图片由用户提供；论文来源：https://arxiv.org/abs/2608.25661v1 。红框强调 Knowledge。右图：iKnow Fig. 6，图片由用户提供；论文来源：https://jun-jie-huang.github.io/assets/papers/ase25_iknow.pdf ，会议信息与 Distinguished Paper Award：https://conf.researchr.org/details/ase-2025/ase-2025-papers/33/iKnow-an-Intent-Guided-Chatbot-for-Cloud-Operations-with-Retrieval-Augmented-Generat 。红框强调上方 Online QA。相似性仅指知识组织、检索/生成阶段与外部 Harness 机制，不表示任务对象或完整系统等同。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533400" y="323850"/>
            <a:ext cx="111252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17365D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550" b="1">
                <a:solidFill>
                  <a:srgbClr val="17365D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Agent Memory 引言 ｜高度</a:t>
            </a:r>
            <a:r>
              <a:rPr lang="zh-CN" sz="2550" b="1">
                <a:solidFill>
                  <a:srgbClr val="17365D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垂直</a:t>
            </a:r>
            <a:r>
              <a:rPr sz="2550" b="1">
                <a:solidFill>
                  <a:srgbClr val="17365D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工作</a:t>
            </a:r>
            <a:endParaRPr sz="2550" b="1">
              <a:solidFill>
                <a:srgbClr val="17365D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942975"/>
            <a:ext cx="11125200" cy="11430"/>
          </a:xfrm>
          <a:prstGeom prst="rect">
            <a:avLst/>
          </a:prstGeom>
          <a:solidFill>
            <a:srgbClr val="D4D9E1"/>
          </a:solidFill>
          <a:ln w="0">
            <a:noFill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57527"/>
            <a:ext cx="5334000" cy="295234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049622"/>
            <a:ext cx="4762500" cy="3358581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4785360" y="2190750"/>
            <a:ext cx="929640" cy="457200"/>
          </a:xfrm>
          <a:prstGeom prst="rect">
            <a:avLst/>
          </a:prstGeom>
          <a:noFill/>
          <a:ln w="30480">
            <a:solidFill>
              <a:srgbClr val="D71920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936740" y="1676400"/>
            <a:ext cx="3971925" cy="888365"/>
          </a:xfrm>
          <a:prstGeom prst="rect">
            <a:avLst/>
          </a:prstGeom>
          <a:noFill/>
          <a:ln w="30480">
            <a:solidFill>
              <a:srgbClr val="D71920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57200" y="447675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65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altLang="zh-CN" sz="1275" b="1">
                <a:solidFill>
                  <a:srgbClr val="17365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Fig. 1.</a:t>
            </a:r>
            <a:r>
              <a:rPr>
                <a:sym typeface="+mn-ea"/>
              </a:rPr>
              <a:t> </a:t>
            </a:r>
            <a:r>
              <a:rPr sz="1275" b="1">
                <a:solidFill>
                  <a:srgbClr val="17365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Layered Operational Knowledge K = (K0, K1, K2, K3)</a:t>
            </a:r>
            <a:endParaRPr sz="1275" b="1">
              <a:solidFill>
                <a:srgbClr val="17365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447675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7365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altLang="zh-CN">
                <a:sym typeface="+mn-ea"/>
              </a:rPr>
              <a:t>Fig. 2.</a:t>
            </a:r>
            <a:r>
              <a:rPr>
                <a:sym typeface="+mn-ea"/>
              </a:rPr>
              <a:t> </a:t>
            </a:r>
            <a:r>
              <a:rPr sz="1275" b="1">
                <a:solidFill>
                  <a:srgbClr val="17365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retrieval phase、generation phase</a:t>
            </a:r>
            <a:endParaRPr sz="1275" b="1">
              <a:solidFill>
                <a:srgbClr val="17365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7200" y="4848225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17365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975" b="1">
                <a:solidFill>
                  <a:srgbClr val="17365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From General Agents to RCA Experts: A Self-Evolving Harness for Root Cause Analysis</a:t>
            </a:r>
            <a:endParaRPr sz="975" b="1">
              <a:solidFill>
                <a:srgbClr val="17365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9425" y="5029200"/>
            <a:ext cx="533400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30343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825" b="0">
                <a:solidFill>
                  <a:srgbClr val="30343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Haiyu Huang, Jiewei Lyu, Zhihan Jiang, Jinyang Liu, Xiao He, Tieying Zhang, Wu Xiang, Michael R. Lyu</a:t>
            </a:r>
            <a:endParaRPr sz="825" b="0">
              <a:solidFill>
                <a:srgbClr val="30343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5373370"/>
            <a:ext cx="5334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65" b="0">
                <a:solidFill>
                  <a:srgbClr val="6B728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865" b="0">
                <a:solidFill>
                  <a:srgbClr val="6B728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arXiv:2608.25661v1</a:t>
            </a:r>
            <a:endParaRPr sz="865" b="0">
              <a:solidFill>
                <a:srgbClr val="6B728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0" y="4848225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17365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975" b="1">
                <a:solidFill>
                  <a:srgbClr val="17365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iKnow: an Intent-Guided Chatbot for Cloud Operations with Retrieval-Augmented Generation</a:t>
            </a:r>
            <a:endParaRPr sz="975" b="1">
              <a:solidFill>
                <a:srgbClr val="17365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5013325"/>
            <a:ext cx="572643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30343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825" b="0">
                <a:solidFill>
                  <a:srgbClr val="30343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Junjie Huang, Yuedong Zhong, Guangba Yu, Zhihan Jiang, Minzhi Yan, Wenfei Luan, Tianyu Yang, Rui Ren, Michael R. Lyu</a:t>
            </a:r>
            <a:endParaRPr sz="825" b="0">
              <a:solidFill>
                <a:srgbClr val="30343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0" y="5213985"/>
            <a:ext cx="674116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65" b="1">
                <a:solidFill>
                  <a:srgbClr val="2F5597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865" b="1">
                <a:solidFill>
                  <a:srgbClr val="2F5597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The IEEE/ACM International Conference on Automated Software Engineering.</a:t>
            </a:r>
            <a:r>
              <a:rPr>
                <a:sym typeface="+mn-ea"/>
              </a:rPr>
              <a:t> </a:t>
            </a:r>
            <a:r>
              <a:rPr sz="865" b="1">
                <a:solidFill>
                  <a:srgbClr val="2F5597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🏆 ACM SIGSOFT Distinguished Paper Award</a:t>
            </a:r>
            <a:endParaRPr sz="865" b="1">
              <a:solidFill>
                <a:srgbClr val="2F5597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49000" y="6477000"/>
            <a:ext cx="6096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1">
                <a:solidFill>
                  <a:srgbClr val="2F559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825" b="1">
                <a:solidFill>
                  <a:srgbClr val="2F559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04</a:t>
            </a:r>
            <a:endParaRPr sz="825" b="1">
              <a:solidFill>
                <a:srgbClr val="2F559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WPS 演示</Application>
  <PresentationFormat>Converted Presentation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Songti SC</vt:lpstr>
      <vt:lpstr>Times New Roman</vt:lpstr>
      <vt:lpstr>宋体-简</vt:lpstr>
      <vt:lpstr>Apple Color Emoji</vt:lpstr>
      <vt:lpstr>微软雅黑</vt:lpstr>
      <vt:lpstr>汉仪旗黑</vt:lpstr>
      <vt:lpstr>Calibri</vt:lpstr>
      <vt:lpstr>Helvetica Neue</vt:lpstr>
      <vt:lpstr>宋体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 will</cp:lastModifiedBy>
  <cp:revision>2</cp:revision>
  <dcterms:created xsi:type="dcterms:W3CDTF">2026-09-13T04:41:18Z</dcterms:created>
  <dcterms:modified xsi:type="dcterms:W3CDTF">2026-09-13T04:41:18Z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2052-12.1.26050.26050</vt:lpwstr>
  </property>
  <property fmtid="{D5CDD505-2E9C-101B-9397-08002B2CF9AE}" pid="3" name="ICV">
    <vt:lpwstr>D7C0BE2B63717A074329A66AA59708C2_42</vt:lpwstr>
  </property>
</Properties>
</file>