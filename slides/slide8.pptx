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84a14f33b14fd9" /><Relationship Type="http://schemas.openxmlformats.org/officeDocument/2006/relationships/extended-properties" Target="/docProps/app.xml" Id="R379e066b9b8346bc" /><Relationship Type="http://schemas.openxmlformats.org/officeDocument/2006/relationships/officeDocument" Target="/ppt/presentation.xml" Id="Rb98933199b1d4e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23990d8ad14405"/>
  </p:sldMasterIdLst>
  <p:notesMasterIdLst>
    <p:notesMasterId xmlns:r="http://schemas.openxmlformats.org/officeDocument/2006/relationships" r:id="Re7ce189cf46b40e4"/>
  </p:notesMasterIdLst>
  <p:sldIdLst>
    <p:sldId xmlns:r="http://schemas.openxmlformats.org/officeDocument/2006/relationships" id="256" r:id="R83548116165c45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4da2aa64744c6d" /><Relationship Type="http://schemas.openxmlformats.org/officeDocument/2006/relationships/slideMaster" Target="/ppt/slideMasters/slideMaster1.xml" Id="R2d23990d8ad14405" /><Relationship Type="http://schemas.openxmlformats.org/officeDocument/2006/relationships/notesMaster" Target="/ppt/notesMasters/notesMaster1.xml" Id="Re7ce189cf46b40e4" /><Relationship Type="http://schemas.openxmlformats.org/officeDocument/2006/relationships/presProps" Target="/ppt/presProps.xml" Id="R42a5a1bbbdb045c2" /><Relationship Type="http://schemas.openxmlformats.org/officeDocument/2006/relationships/tableStyles" Target="/ppt/tableStyles.xml" Id="R02ff4cd414a94ff6" /><Relationship Type="http://schemas.openxmlformats.org/officeDocument/2006/relationships/slide" Target="/ppt/slides/slide1.xml" Id="R83548116165c45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f80c7d896049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75fb1e468942b0" /><Relationship Type="http://schemas.openxmlformats.org/officeDocument/2006/relationships/notesMaster" Target="/ppt/notesMasters/notesMaster1.xml" Id="Rf793985ffaeb42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飞书层级来源：https://tcnalm3egehv.feishu.cn/wiki/PbngwXzYQiFKXlksYb2ct6m9nUd#share-FdG8dju7ZoLld7x8gDwc17UNnIe ，只读回读 document KbVwdW9O0ogoLDxkkX7cOoq0nth revision 25。</a:t>
            </a:r>
          </a:p>
          <a:p xmlns:a="http://schemas.openxmlformats.org/drawingml/2006/main">
            <a:r>
              <a:t>论文与出版表来源：https://tcnalm3egehv.feishu.cn/wiki/WQdMwnSjoicZCqk1wPfcKlXHntd ，只读回读 document Q6VpdbSxwoNEWFxVrM0cLN1rnhd revision 17。</a:t>
            </a:r>
          </a:p>
          <a:p xmlns:a="http://schemas.openxmlformats.org/drawingml/2006/main">
            <a:r>
              <a:t>AgentOps：https://arxiv.org/abs/2411.05285 。</a:t>
            </a:r>
          </a:p>
          <a:p xmlns:a="http://schemas.openxmlformats.org/drawingml/2006/main">
            <a:r>
              <a:t>Process-Centric Analysis：https://doi.org/10.1145/3798271 。PACMPL OOPSLA1，2026。</a:t>
            </a:r>
          </a:p>
          <a:p xmlns:a="http://schemas.openxmlformats.org/drawingml/2006/main">
            <a:r>
              <a:t>AGDebugger：https://arxiv.org/abs/2503.02068 。CHI 2025。</a:t>
            </a:r>
          </a:p>
          <a:p xmlns:a="http://schemas.openxmlformats.org/drawingml/2006/main">
            <a:r>
              <a:t>FAMAS：https://conf.researchr.org/details/fse-2026/fse-2026-research-papers/205/Spectrum-based-Failure-Attribution-for-Multi-Agent-Systems 。FSE Research Papers，2026。</a:t>
            </a:r>
          </a:p>
          <a:p xmlns:a="http://schemas.openxmlformats.org/drawingml/2006/main">
            <a:r>
              <a:t>CCF 软件工程目录：https://www.ccf.org.cn/Academic_Evaluation/TCSE_SS_PDL/ 。</a:t>
            </a:r>
          </a:p>
          <a:p xmlns:a="http://schemas.openxmlformats.org/drawingml/2006/main">
            <a:r>
              <a:t>CCF 人机交互目录：https://www.ccf.org.cn/Academic_Evaluation/HCIAndPC/ 。</a:t>
            </a:r>
          </a:p>
          <a:p xmlns:a="http://schemas.openxmlformats.org/drawingml/2006/main">
            <a:r>
              <a:t>本页编排连续的 01—04 四个阶段；原 02 意图与行为关联未纳入本页，后续阶段顺次重编号。图源均为相应论文原图的本地提取版本，并裁除原图自带的 Figure 图注。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3bdade7e34c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a0a6aea5b4bad" /><Relationship Type="http://schemas.openxmlformats.org/officeDocument/2006/relationships/slideLayout" Target="/ppt/slideLayouts/slideLayout1.xml" Id="Rc30852623d0b4d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0852623d0b4d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2bf35e96a4db6" /><Relationship Type="http://schemas.openxmlformats.org/officeDocument/2006/relationships/image" Target="/ppt/media/image.png" Id="R8f59caed51a84c88" /><Relationship Type="http://schemas.openxmlformats.org/officeDocument/2006/relationships/image" Target="/ppt/media/image2.png" Id="R51a39ec517334d6d" /><Relationship Type="http://schemas.openxmlformats.org/officeDocument/2006/relationships/image" Target="/ppt/media/image3.png" Id="R97dad9b142d14746" /><Relationship Type="http://schemas.openxmlformats.org/officeDocument/2006/relationships/image" Target="/ppt/media/image4.png" Id="R5bc65d96a82446ab" /><Relationship Type="http://schemas.openxmlformats.org/officeDocument/2006/relationships/notesSlide" Target="/ppt/notesSlides/notesSlide1.xml" Id="R21c64e105b954e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F3B56F-691D-4DB6-B461-014C2959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65D"/>
                </a:solidFill>
                <a:latin typeface="Songti SC"/>
                <a:ea typeface="Songti SC"/>
                <a:cs typeface="Songti SC"/>
              </a:defRPr>
            </a:pPr>
            <a:r>
              <a:rPr sz="2175" b="1">
                <a:solidFill>
                  <a:srgbClr val="17365D"/>
                </a:solidFill>
                <a:latin typeface="Songti SC"/>
                <a:ea typeface="Songti SC"/>
                <a:cs typeface="Songti SC"/>
              </a:rPr>
              <a:t>Agent 可靠性调研：从日志到可诊断证据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4D4CD-4130-473C-BB12-02A71E98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190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01—04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39C8B-1117-4E86-BB64-30FCBA23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53DCC-49FC-4122-A485-364556E1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54102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D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572E5-5EA5-412E-9E36-E4567779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09625"/>
            <a:ext cx="5391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304D7-051C-4B83-B01C-718A43CC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23925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597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2F5597"/>
                </a:solidFill>
                <a:latin typeface="Songti SC"/>
                <a:ea typeface="Songti SC"/>
                <a:cs typeface="Songti SC"/>
              </a:rPr>
              <a:t>01  生命周期 Span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86468-2C70-4E9A-A432-215E5CB5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933450"/>
            <a:ext cx="3200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0343B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0343B"/>
                </a:solidFill>
                <a:latin typeface="Songti SC"/>
                <a:ea typeface="Songti SC"/>
                <a:cs typeface="Songti SC"/>
              </a:rPr>
              <a:t>散乱事件 → Trace / Span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9caed51a84c88"/>
          <a:stretch xmlns:a="http://schemas.openxmlformats.org/drawingml/2006/main"/>
        </p:blipFill>
        <p:spPr>
          <a:xfrm xmlns:a="http://schemas.openxmlformats.org/drawingml/2006/main">
            <a:off x="1940736" y="1247775"/>
            <a:ext cx="2595528" cy="1943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988B5-A628-45DD-94E9-5BE6D29A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AE313-DE0E-43AE-9279-45912A75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7365D"/>
                </a:solidFill>
                <a:latin typeface="Songti SC"/>
                <a:ea typeface="Songti SC"/>
                <a:cs typeface="Songti SC"/>
              </a:defRPr>
            </a:pPr>
            <a:r>
              <a:rPr sz="885" b="1">
                <a:solidFill>
                  <a:srgbClr val="17365D"/>
                </a:solidFill>
                <a:latin typeface="Songti SC"/>
                <a:ea typeface="Songti SC"/>
                <a:cs typeface="Songti SC"/>
              </a:rPr>
              <a:t>AgentOps: Enabling Observability of LLM Agents ｜ arXiv 预印本 ｜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2D23D-CF2B-4871-963C-3FCEA528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800100"/>
            <a:ext cx="55245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98568-DFC5-4FC2-802F-920C42B5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809625"/>
            <a:ext cx="5505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A1CB5-1806-4D4B-9B93-6D474DF6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923925"/>
            <a:ext cx="1038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30A0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7030A0"/>
                </a:solidFill>
                <a:latin typeface="Songti SC"/>
                <a:ea typeface="Songti SC"/>
                <a:cs typeface="Songti SC"/>
              </a:rPr>
              <a:t>02  轨迹图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5329A-F306-4C03-8ABF-975F5B10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933450"/>
            <a:ext cx="3971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0343B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0343B"/>
                </a:solidFill>
                <a:latin typeface="Songti SC"/>
                <a:ea typeface="Songti SC"/>
                <a:cs typeface="Songti SC"/>
              </a:rPr>
              <a:t>线性 Trace → Graphectory / Langutory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39ec517334d6d"/>
          <a:stretch xmlns:a="http://schemas.openxmlformats.org/drawingml/2006/main"/>
        </p:blipFill>
        <p:spPr>
          <a:xfrm xmlns:a="http://schemas.openxmlformats.org/drawingml/2006/main">
            <a:off x="6742552" y="1247775"/>
            <a:ext cx="4307595" cy="19431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81A91-5EE8-4E49-9985-80B2A691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CECC7-4C23-4165-8E58-CEA40F3B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480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7365D"/>
                </a:solidFill>
                <a:latin typeface="Songti SC"/>
                <a:ea typeface="Songti SC"/>
                <a:cs typeface="Songti SC"/>
              </a:defRPr>
            </a:pPr>
            <a:r>
              <a:rPr sz="885" b="1">
                <a:solidFill>
                  <a:srgbClr val="17365D"/>
                </a:solidFill>
                <a:latin typeface="Songti SC"/>
                <a:ea typeface="Songti SC"/>
                <a:cs typeface="Songti SC"/>
              </a:rPr>
              <a:t>Process-Centric Analysis of Agentic Software Systems ｜ PACMPL（OOPSLA1） ｜ CCF-A ｜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E03BE8-55E8-41AB-AC12-52D1CFCB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4102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D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747FE-B68B-4357-A34B-83256F3D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724275"/>
            <a:ext cx="5391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DBF4E-B32F-4AFA-AB86-6495B2C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26A00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B26A00"/>
                </a:solidFill>
                <a:latin typeface="Songti SC"/>
                <a:ea typeface="Songti SC"/>
                <a:cs typeface="Songti SC"/>
              </a:rPr>
              <a:t>03  重放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56EB9-8568-4680-A384-89C6ADD0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48100"/>
            <a:ext cx="403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0343B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0343B"/>
                </a:solidFill>
                <a:latin typeface="Songti SC"/>
                <a:ea typeface="Songti SC"/>
                <a:cs typeface="Songti SC"/>
              </a:rPr>
              <a:t>历史运行 → 可编辑分支 / 局部重执行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ad9b142d14746"/>
          <a:stretch xmlns:a="http://schemas.openxmlformats.org/drawingml/2006/main"/>
        </p:blipFill>
        <p:spPr>
          <a:xfrm xmlns:a="http://schemas.openxmlformats.org/drawingml/2006/main">
            <a:off x="1714500" y="4162425"/>
            <a:ext cx="3048000" cy="19431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AC030-B3F8-41DC-979A-F97FCC69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3410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1E4A34-5230-4647-A1DB-975958ED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7365D"/>
                </a:solidFill>
                <a:latin typeface="Songti SC"/>
                <a:ea typeface="Songti SC"/>
                <a:cs typeface="Songti SC"/>
              </a:defRPr>
            </a:pPr>
            <a:r>
              <a:rPr sz="885" b="1">
                <a:solidFill>
                  <a:srgbClr val="17365D"/>
                </a:solidFill>
                <a:latin typeface="Songti SC"/>
                <a:ea typeface="Songti SC"/>
                <a:cs typeface="Songti SC"/>
              </a:rPr>
              <a:t>Interactive Debugging and Steering of Multi-Agent AI Systems ｜ CHI ｜ CCF-A ｜ 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6DD7A-66B6-4FA5-AD85-5BFCB5C8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55245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B916FF-A326-447E-9CE7-6E72350B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24275"/>
            <a:ext cx="5505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4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575FC-0128-4FBD-8377-1F7E0C34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38575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7F4B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2A7F4B"/>
                </a:solidFill>
                <a:latin typeface="Songti SC"/>
                <a:ea typeface="Songti SC"/>
                <a:cs typeface="Songti SC"/>
              </a:rPr>
              <a:t>04  诊断、归因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80CC7F-DF68-482B-B7A2-0CE63681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4810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0343B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0343B"/>
                </a:solidFill>
                <a:latin typeface="Songti SC"/>
                <a:ea typeface="Songti SC"/>
                <a:cs typeface="Songti SC"/>
              </a:rPr>
              <a:t>多次成败轨迹 → 可疑度排名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65d96a82446ab"/>
          <a:stretch xmlns:a="http://schemas.openxmlformats.org/drawingml/2006/main"/>
        </p:blipFill>
        <p:spPr>
          <a:xfrm xmlns:a="http://schemas.openxmlformats.org/drawingml/2006/main">
            <a:off x="6305550" y="4526026"/>
            <a:ext cx="5181600" cy="1215899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813178-12A4-42BD-819D-729E437E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3410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328EFB-EBEE-48A2-9FF1-03615919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6267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7365D"/>
                </a:solidFill>
                <a:latin typeface="Songti SC"/>
                <a:ea typeface="Songti SC"/>
                <a:cs typeface="Songti SC"/>
              </a:defRPr>
            </a:pPr>
            <a:r>
              <a:rPr sz="885" b="1">
                <a:solidFill>
                  <a:srgbClr val="17365D"/>
                </a:solidFill>
                <a:latin typeface="Songti SC"/>
                <a:ea typeface="Songti SC"/>
                <a:cs typeface="Songti SC"/>
              </a:rPr>
              <a:t>Spectrum-based Failure Attribution for Multi-Agent Systems ｜ FSE Research Papers ｜ CCF-A ｜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E40245-B8AA-4AE4-A6E7-D8439815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08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2026-09-12T14:36:52.3860000Z</dcterms:created>
  <dcterms:modified xsi:type="dcterms:W3CDTF">2026-09-12T14:36:52.3860000Z</dcterms:modified>
</coreProperties>
</file>